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0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84.48</c:v>
                </c:pt>
                <c:pt idx="1">
                  <c:v>91.59</c:v>
                </c:pt>
                <c:pt idx="2">
                  <c:v>87.88</c:v>
                </c:pt>
                <c:pt idx="3">
                  <c:v>88.27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 Cr)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19.58</c:v>
                </c:pt>
                <c:pt idx="1">
                  <c:v>21.47</c:v>
                </c:pt>
                <c:pt idx="2">
                  <c:v>20.46</c:v>
                </c:pt>
                <c:pt idx="3">
                  <c:v>20.56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Cr)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29.7</c:v>
                </c:pt>
                <c:pt idx="1">
                  <c:v>27.53</c:v>
                </c:pt>
                <c:pt idx="2">
                  <c:v>31.06</c:v>
                </c:pt>
                <c:pt idx="3">
                  <c:v>29.91</c:v>
                </c:pt>
                <c:pt idx="4">
                  <c:v>27.48</c:v>
                </c:pt>
                <c:pt idx="5">
                  <c:v>28.93</c:v>
                </c:pt>
                <c:pt idx="6">
                  <c:v>28.42</c:v>
                </c:pt>
                <c:pt idx="7">
                  <c:v>30.81</c:v>
                </c:pt>
                <c:pt idx="8">
                  <c:v>29.26</c:v>
                </c:pt>
                <c:pt idx="9">
                  <c:v>29.98</c:v>
                </c:pt>
                <c:pt idx="10">
                  <c:v>29.81</c:v>
                </c:pt>
                <c:pt idx="11">
                  <c:v>29.32</c:v>
                </c:pt>
              </c:numCache>
            </c:numRef>
          </c:val>
          <c:smooth val="0"/>
        </c:ser>
        <c:dLbls>
          <c:numFmt formatCode="#,##0.0" sourceLinked="0"/>
          <c:txPr>
            <a:bodyPr/>
            <a:lstStyle/>
            <a:p>
              <a:pPr>
                <a:defRPr b="0" i="0" strike="noStrike" sz="95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"/>
          <c:min val="24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South</c:v>
                  </c:pt>
                  <c:pt idx="1">
                    <c:v>North</c:v>
                  </c:pt>
                  <c:pt idx="2">
                    <c:v>West</c:v>
                  </c:pt>
                  <c:pt idx="3">
                    <c:v>East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76.1</c:v>
                </c:pt>
                <c:pt idx="1">
                  <c:v>75.34</c:v>
                </c:pt>
                <c:pt idx="2">
                  <c:v>74.87</c:v>
                </c:pt>
                <c:pt idx="3">
                  <c:v>74.54</c:v>
                </c:pt>
                <c:pt idx="4">
                  <c:v>51.38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Cr)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Telangana</c:v>
                  </c:pt>
                  <c:pt idx="1">
                    <c:v>Madhya Pradesh</c:v>
                  </c:pt>
                  <c:pt idx="2">
                    <c:v>Bihar</c:v>
                  </c:pt>
                  <c:pt idx="3">
                    <c:v>Punjab</c:v>
                  </c:pt>
                  <c:pt idx="4">
                    <c:v>Chhattisgarh</c:v>
                  </c:pt>
                  <c:pt idx="5">
                    <c:v>Tamil Nadu</c:v>
                  </c:pt>
                  <c:pt idx="6">
                    <c:v>Gujarat</c:v>
                  </c:pt>
                  <c:pt idx="7">
                    <c:v>Rajasthan</c:v>
                  </c:pt>
                  <c:pt idx="8">
                    <c:v>Odisha</c:v>
                  </c:pt>
                  <c:pt idx="9">
                    <c:v>Haryana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25.89</c:v>
                </c:pt>
                <c:pt idx="1">
                  <c:v>25.87</c:v>
                </c:pt>
                <c:pt idx="2">
                  <c:v>25.79</c:v>
                </c:pt>
                <c:pt idx="3">
                  <c:v>25.69</c:v>
                </c:pt>
                <c:pt idx="4">
                  <c:v>25.52</c:v>
                </c:pt>
                <c:pt idx="5">
                  <c:v>25.36</c:v>
                </c:pt>
                <c:pt idx="6">
                  <c:v>25.11</c:v>
                </c:pt>
                <c:pt idx="7">
                  <c:v>25.08</c:v>
                </c:pt>
                <c:pt idx="8">
                  <c:v>25.07</c:v>
                </c:pt>
                <c:pt idx="9">
                  <c:v>24.84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95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.5"/>
          <c:min val="24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bubble3D val="0"/>
            <c:spPr>
              <a:solidFill>
                <a:srgbClr val="8FA3D9"/>
              </a:solidFill>
              <a:effectLst/>
            </c:spPr>
          </c:dPt>
          <c:dPt>
            <c:idx val="4"/>
            <c:bubble3D val="0"/>
            <c:spPr>
              <a:solidFill>
                <a:srgbClr val="D9C79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Furniture</c:v>
                </c:pt>
                <c:pt idx="2">
                  <c:v>Office Supplies</c:v>
                </c:pt>
                <c:pt idx="3">
                  <c:v>Clothing</c:v>
                </c:pt>
                <c:pt idx="4">
                  <c:v>Groceries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207.13</c:v>
                </c:pt>
                <c:pt idx="1">
                  <c:v>104.01</c:v>
                </c:pt>
                <c:pt idx="2">
                  <c:v>18.59</c:v>
                </c:pt>
                <c:pt idx="3">
                  <c:v>16.58</c:v>
                </c:pt>
                <c:pt idx="4">
                  <c:v>5.92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Headphones</c:v>
                  </c:pt>
                  <c:pt idx="1">
                    <c:v>Cameras</c:v>
                  </c:pt>
                  <c:pt idx="2">
                    <c:v>Mobiles</c:v>
                  </c:pt>
                  <c:pt idx="3">
                    <c:v>Laptops</c:v>
                  </c:pt>
                  <c:pt idx="4">
                    <c:v>Televisions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42.62</c:v>
                </c:pt>
                <c:pt idx="1">
                  <c:v>42.25</c:v>
                </c:pt>
                <c:pt idx="2">
                  <c:v>41.94</c:v>
                </c:pt>
                <c:pt idx="3">
                  <c:v>40.22</c:v>
                </c:pt>
                <c:pt idx="4">
                  <c:v>40.1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"/>
          <c:min val="38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Beverages</c:v>
                  </c:pt>
                  <c:pt idx="1">
                    <c:v>Binders</c:v>
                  </c:pt>
                  <c:pt idx="2">
                    <c:v>Kids Wear</c:v>
                  </c:pt>
                  <c:pt idx="3">
                    <c:v>Footwear</c:v>
                  </c:pt>
                  <c:pt idx="4">
                    <c:v>Stationery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22.94</c:v>
                </c:pt>
                <c:pt idx="1">
                  <c:v>22.95</c:v>
                </c:pt>
                <c:pt idx="2">
                  <c:v>22.99</c:v>
                </c:pt>
                <c:pt idx="3">
                  <c:v>22.99</c:v>
                </c:pt>
                <c:pt idx="4">
                  <c:v>23.02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.1"/>
          <c:min val="22.8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Cr)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1–5%</c:v>
                  </c:pt>
                  <c:pt idx="2">
                    <c:v>6–10%</c:v>
                  </c:pt>
                  <c:pt idx="3">
                    <c:v>11–15%</c:v>
                  </c:pt>
                  <c:pt idx="4">
                    <c:v>16–20%</c:v>
                  </c:pt>
                  <c:pt idx="5">
                    <c:v>21%+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115.61</c:v>
                </c:pt>
                <c:pt idx="1">
                  <c:v>73.01</c:v>
                </c:pt>
                <c:pt idx="2">
                  <c:v>68.79</c:v>
                </c:pt>
                <c:pt idx="3">
                  <c:v>50.42</c:v>
                </c:pt>
                <c:pt idx="4">
                  <c:v>31.31</c:v>
                </c:pt>
                <c:pt idx="5">
                  <c:v>13.07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1–5%</c:v>
                  </c:pt>
                  <c:pt idx="2">
                    <c:v>6–10%</c:v>
                  </c:pt>
                  <c:pt idx="3">
                    <c:v>11–15%</c:v>
                  </c:pt>
                  <c:pt idx="4">
                    <c:v>16–20%</c:v>
                  </c:pt>
                  <c:pt idx="5">
                    <c:v>21%+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30.01</c:v>
                </c:pt>
                <c:pt idx="1">
                  <c:v>26.17</c:v>
                </c:pt>
                <c:pt idx="2">
                  <c:v>22.45</c:v>
                </c:pt>
                <c:pt idx="3">
                  <c:v>17.72</c:v>
                </c:pt>
                <c:pt idx="4">
                  <c:v>12.14</c:v>
                </c:pt>
                <c:pt idx="5">
                  <c:v>0.57</c:v>
                </c:pt>
              </c:numCache>
            </c:numRef>
          </c:val>
          <c:smooth val="0"/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6B7280"/>
                    </a:solidFill>
                    <a:latin typeface="Arial"/>
                  </a:rPr>
                  <a:t>Sales (₹ Cr)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35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C0392B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C0392B"/>
                    </a:solidFill>
                    <a:latin typeface="Arial"/>
                  </a:rPr>
                  <a:t>Margin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0392B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194.9</c:v>
                </c:pt>
                <c:pt idx="1">
                  <c:v>106.36</c:v>
                </c:pt>
                <c:pt idx="2">
                  <c:v>50.97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2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Standard Class</c:v>
                  </c:pt>
                  <c:pt idx="1">
                    <c:v>Second Class</c:v>
                  </c:pt>
                  <c:pt idx="2">
                    <c:v>First Class</c:v>
                  </c:pt>
                  <c:pt idx="3">
                    <c:v>Same Day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50.2</c:v>
                </c:pt>
                <c:pt idx="1">
                  <c:v>24.8</c:v>
                </c:pt>
                <c:pt idx="2">
                  <c:v>15.1</c:v>
                </c:pt>
                <c:pt idx="3">
                  <c:v>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bubble3D val="0"/>
            <c:spPr>
              <a:solidFill>
                <a:srgbClr val="8FA3D9"/>
              </a:solidFill>
              <a:effectLst/>
            </c:spPr>
          </c:dPt>
          <c:dPt>
            <c:idx val="4"/>
            <c:bubble3D val="0"/>
            <c:spPr>
              <a:solidFill>
                <a:srgbClr val="D9C79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UPI</c:v>
                </c:pt>
                <c:pt idx="1">
                  <c:v>Credit Card</c:v>
                </c:pt>
                <c:pt idx="2">
                  <c:v>Debit Card</c:v>
                </c:pt>
                <c:pt idx="3">
                  <c:v>Net Banking</c:v>
                </c:pt>
                <c:pt idx="4">
                  <c:v>Cash on Delivery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29.91</c:v>
                </c:pt>
                <c:pt idx="1">
                  <c:v>29.76</c:v>
                </c:pt>
                <c:pt idx="2">
                  <c:v>20.06</c:v>
                </c:pt>
                <c:pt idx="3">
                  <c:v>12.21</c:v>
                </c:pt>
                <c:pt idx="4">
                  <c:v>8.06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024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743200"/>
            <a:ext cx="7315200" cy="7315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438912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8580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icons/bar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8332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&amp; PROFITABILITY ANALYSIS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Retail Co.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Deep-Dive Across Sales, Profit, Discounting &amp; Fulfillment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 – FY2025 | 52,000 Orders | 5 Regions of India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61081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Data Analytics Team  •  July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013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flag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236" y="1953524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550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Business Context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0391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key questions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15087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013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516" y="1953524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6550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Data &amp; Methodology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086600" y="20391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scope and analytical approach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803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1729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trending_u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236" y="3325124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0266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Performance Overview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17320" y="34107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YoY trend, seasonality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28803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09360" y="31729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ma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516" y="3325124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0266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Regional &amp; Category Analysis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86600" y="34107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sales and profit are won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42519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" y="45445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percen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236" y="4696724"/>
            <a:ext cx="280904" cy="280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3982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Discounting &amp; Margin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417320" y="47823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discount policy erodes profit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42519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45445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user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516" y="4696724"/>
            <a:ext cx="280904" cy="2809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3982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Customers &amp; Segments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086600" y="47823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drives the most value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57200" y="56235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0080" y="59161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icons/truck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236" y="6068324"/>
            <a:ext cx="280904" cy="28090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57698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  Fulfillment &amp; Payments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1417320" y="61539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and payment behavior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6126480" y="562356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309360" y="5916168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icons/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516" y="6068324"/>
            <a:ext cx="280904" cy="28090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86600" y="576986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  Insights, Recommendations &amp; Roadmap</a:t>
            </a:r>
            <a:endParaRPr lang="en-US" sz="1500" dirty="0"/>
          </a:p>
        </p:txBody>
      </p:sp>
      <p:sp>
        <p:nvSpPr>
          <p:cNvPr id="43" name="Text 33"/>
          <p:cNvSpPr/>
          <p:nvPr/>
        </p:nvSpPr>
        <p:spPr>
          <a:xfrm>
            <a:off x="7086600" y="615391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next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949440" cy="4617720"/>
          </a:xfrm>
          <a:prstGeom prst="roundRect">
            <a:avLst>
              <a:gd name="adj" fmla="val 1584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Retail Co. sells across five categories — Electronics, Furniture, Clothing, Groceries and Office Supplies — through multiple regions of India. Leadership currently reviews performance manually, with no single, unified view of sales, profitability, discounting behavior or fulfillment performance.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584448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52,000 orders (2022–2025) to help management monitor sales performance, profitability and operational efficiency — and support data-driven decisions on discounting, regional focus and product strategy.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910328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consolidated view, discount decisions, regional investment and product bets are made on intuition rather than evidence — leaving margin on the table and slowing growth.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554480"/>
            <a:ext cx="4142232" cy="1024128"/>
          </a:xfrm>
          <a:prstGeom prst="roundRect">
            <a:avLst>
              <a:gd name="adj" fmla="val 714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26680" y="1697858"/>
            <a:ext cx="3867912" cy="5120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26680" y="2189439"/>
            <a:ext cx="3867912" cy="348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analyzed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89520" y="2724912"/>
            <a:ext cx="4142232" cy="1024128"/>
          </a:xfrm>
          <a:prstGeom prst="roundRect">
            <a:avLst>
              <a:gd name="adj" fmla="val 714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26680" y="2868290"/>
            <a:ext cx="3867912" cy="5120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726680" y="3359871"/>
            <a:ext cx="3867912" cy="348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history (2022–25)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589520" y="3895344"/>
            <a:ext cx="4142232" cy="1024128"/>
          </a:xfrm>
          <a:prstGeom prst="roundRect">
            <a:avLst>
              <a:gd name="adj" fmla="val 714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26680" y="4038722"/>
            <a:ext cx="3867912" cy="5120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726680" y="4530303"/>
            <a:ext cx="3867912" cy="348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89520" y="5065776"/>
            <a:ext cx="4142232" cy="1024128"/>
          </a:xfrm>
          <a:prstGeom prst="roundRect">
            <a:avLst>
              <a:gd name="adj" fmla="val 7143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26680" y="5209154"/>
            <a:ext cx="3867912" cy="51206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26680" y="5700735"/>
            <a:ext cx="3867912" cy="3482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across India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645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trending_up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647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910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Sales, profit &amp; margin trend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1901952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totals trending month-over-month and year-over-year?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26480" y="1481328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6291072" y="1645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map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176479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591056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03720" y="1901952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/ State / City drives the most sales and profit — and where is margin lowest?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" y="29992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layers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11810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9443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34440" y="3255264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Category / Sub-Category are top performers vs. underperformers?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26480" y="2834640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291072" y="299923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percent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11810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294436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impact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03720" y="3255264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heavy discounting erode profit margin?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18795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/>
        </p:spPr>
      </p:sp>
      <p:sp>
        <p:nvSpPr>
          <p:cNvPr id="25" name="Shape 19"/>
          <p:cNvSpPr/>
          <p:nvPr/>
        </p:nvSpPr>
        <p:spPr>
          <a:xfrm>
            <a:off x="621792" y="435254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icons/users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4471416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2976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&amp; segment value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234440" y="460857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customers, and which segment is most valuable?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26480" y="4187952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/>
        </p:spPr>
      </p:sp>
      <p:sp>
        <p:nvSpPr>
          <p:cNvPr id="30" name="Shape 23"/>
          <p:cNvSpPr/>
          <p:nvPr/>
        </p:nvSpPr>
        <p:spPr>
          <a:xfrm>
            <a:off x="6291072" y="4352544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icons/truck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447141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429768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efficiency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903720" y="460857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shipping cost and delivery lag by Ship Mode and Region?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57200" y="554126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/>
        </p:spPr>
      </p:sp>
      <p:sp>
        <p:nvSpPr>
          <p:cNvPr id="35" name="Shape 27"/>
          <p:cNvSpPr/>
          <p:nvPr/>
        </p:nvSpPr>
        <p:spPr>
          <a:xfrm>
            <a:off x="621792" y="57058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6" descr="icons/card_1E276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5824728"/>
            <a:ext cx="219456" cy="21945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34440" y="565099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behavior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234440" y="596188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Payment Method is most used — and does it vary by region or segment?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126480" y="5541264"/>
            <a:ext cx="5349240" cy="1170432"/>
          </a:xfrm>
          <a:prstGeom prst="roundRect">
            <a:avLst>
              <a:gd name="adj" fmla="val 6250"/>
            </a:avLst>
          </a:prstGeom>
          <a:solidFill>
            <a:srgbClr val="F7F8FC"/>
          </a:solidFill>
          <a:ln/>
        </p:spPr>
      </p:sp>
      <p:sp>
        <p:nvSpPr>
          <p:cNvPr id="40" name="Shape 31"/>
          <p:cNvSpPr/>
          <p:nvPr/>
        </p:nvSpPr>
        <p:spPr>
          <a:xfrm>
            <a:off x="6291072" y="570585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1" name="Image 7" descr="icons/calendar_1E276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5824728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03720" y="565099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Seasonality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6903720" y="596188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seasonal patterns in sales or category demand?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Methodology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057400" y="1920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Sales_Data sheet, National Retail Co. transactional export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25420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52,000 orders × 20 columns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163824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57400" y="31638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2022 – December 2025 (4 full years)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785616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378561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order line: customer, product, discount, sales, profit, shipping &amp; fulfillment detail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93776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regional, category, discount-band and cohort analysis performed on the full order-level dataset in Excel/Python — all figures below are computed directly from the 52,000-row extract, not sampled.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1508760"/>
            <a:ext cx="4965192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7373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Fields Analyzed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086600" y="227685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296912" y="21671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Order_ID, Order_Date, Ship_Date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86600" y="2752344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7296912" y="26426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Customer_Name, Segment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086600" y="322783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7296912" y="31181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State, City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86600" y="3703320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7296912" y="35935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Sub_Category, Product_Name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86600" y="4178808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7296912" y="4069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Unit_Price, Discount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86600" y="4654296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7296912" y="454456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Profit, Shipping_Cost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086600" y="5129784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0" name="Text 28"/>
          <p:cNvSpPr/>
          <p:nvPr/>
        </p:nvSpPr>
        <p:spPr>
          <a:xfrm>
            <a:off x="7296912" y="50200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Ship_Mode, Payment_Method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086600" y="5605272"/>
            <a:ext cx="73152" cy="7315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/>
          <p:nvPr/>
        </p:nvSpPr>
        <p:spPr>
          <a:xfrm>
            <a:off x="7296912" y="54955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Delivery_Days, Profit_Margin (derived)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is stable and profitable at 23.3% margin, but growth has plateaued since 2023 and heavy discounting (16%+) is quietly wiping out profit on nearly 15% of order value.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377440"/>
            <a:ext cx="566928" cy="566928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7" name="Image 0" descr="icons/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201" y="25248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3500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₹352.2 Cr in total sales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417320" y="2990088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52,000 orders, FY22–25 — a healthy, consistently profitable base.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45352" y="214884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377440"/>
            <a:ext cx="566928" cy="566928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2" name="Image 1" descr="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353" y="252484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05472" y="23500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has plateaued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205472" y="2990088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peaked in 2023 (₹91.6 Cr) and have stayed flat through 2025 (₹88.3 Cr).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42976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4526280"/>
            <a:ext cx="566928" cy="566928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17" name="Image 2" descr="icons/percen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" y="467368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4988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 above 16% erode margin to near-zero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417320" y="5138928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 margin on ₹13.1 Cr of sales vs. 30.0% margin on full-price orders.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45352" y="42976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635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4526280"/>
            <a:ext cx="566928" cy="566928"/>
          </a:xfrm>
          <a:prstGeom prst="ellipse">
            <a:avLst/>
          </a:prstGeom>
          <a:solidFill>
            <a:srgbClr val="000000"/>
          </a:solidFill>
          <a:ln/>
        </p:spPr>
      </p:sp>
      <p:pic>
        <p:nvPicPr>
          <p:cNvPr id="22" name="Image 3" descr="icons/targ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353" y="4673681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05472" y="449884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&amp; Furniture = 88% of sales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205472" y="5138928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concentrated category mix with room to diversify.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Dashboard — FY2022–2025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47088"/>
            <a:ext cx="4572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₹352.2 Cr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28416" y="155448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84448" y="1847088"/>
            <a:ext cx="4572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2011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₹82.1 Cr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57016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9632" y="155448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55664" y="1847088"/>
            <a:ext cx="4572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011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428232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70848" y="1554480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0" y="1847088"/>
            <a:ext cx="4572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99448" y="2011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52,000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99448" y="28346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739896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032504"/>
            <a:ext cx="4572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97096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₹67,735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685800" y="50200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328416" y="3739896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84448" y="4032504"/>
            <a:ext cx="4572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7016" y="4197096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 days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3557016" y="50200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99632" y="3739896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5664" y="4032504"/>
            <a:ext cx="4572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4197096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₹2.12 Cr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6428232" y="50200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Shipping Cost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070848" y="3739896"/>
            <a:ext cx="2651760" cy="1965960"/>
          </a:xfrm>
          <a:prstGeom prst="roundRect">
            <a:avLst>
              <a:gd name="adj" fmla="val 418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26880" y="4032504"/>
            <a:ext cx="45720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9448" y="4197096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15,925</a:t>
            </a:r>
            <a:endParaRPr lang="en-US" sz="2700" dirty="0"/>
          </a:p>
        </p:txBody>
      </p:sp>
      <p:sp>
        <p:nvSpPr>
          <p:cNvPr id="36" name="Text 34"/>
          <p:cNvSpPr/>
          <p:nvPr/>
        </p:nvSpPr>
        <p:spPr>
          <a:xfrm>
            <a:off x="9299448" y="502005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Profit Trend — FY2022–2025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63040"/>
            <a:ext cx="4096512" cy="4480560"/>
          </a:xfrm>
          <a:prstGeom prst="roundRect">
            <a:avLst>
              <a:gd name="adj" fmla="val 1786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trend shows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863840" y="220370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8074152" y="207568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8.4% from 2022 to a peak of ₹91.6 Cr in 2023.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63840" y="304495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8074152" y="2916936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sales fell 4.0% and 2025 stayed essentially flat — growth has plateaued for two straight years.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388620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8074152" y="3758184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has stayed remarkably stable, 23.2–23.4% every year — the plateau is a volume issue, not a pricing/cost issue.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63840" y="472744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1"/>
          <p:cNvSpPr/>
          <p:nvPr/>
        </p:nvSpPr>
        <p:spPr>
          <a:xfrm>
            <a:off x="8074152" y="459943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tracks sales closely (12.8k–13.3k/yr), confirming the slowdown is in demand, not average basket size.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Seasonality (2022–2025 Combined)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112471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EF3FD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mildly seasonal: March and August are consistent peaks (festive/back-to-office restocking), while February and May are the softest months — a ~12% swing from trough to peak that campaign timing can smooth out.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63040"/>
            <a:ext cx="4096512" cy="4480560"/>
          </a:xfrm>
          <a:prstGeom prst="roundRect">
            <a:avLst>
              <a:gd name="adj" fmla="val 1786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% by Region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863840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332720" y="21488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23.45%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63840" y="2478024"/>
            <a:ext cx="3657600" cy="91440"/>
          </a:xfrm>
          <a:prstGeom prst="roundRect">
            <a:avLst>
              <a:gd name="adj" fmla="val 50000"/>
            </a:avLst>
          </a:prstGeom>
          <a:solidFill>
            <a:srgbClr val="E3E7F0"/>
          </a:solidFill>
          <a:ln/>
        </p:spPr>
      </p:sp>
      <p:sp>
        <p:nvSpPr>
          <p:cNvPr id="10" name="Shape 7"/>
          <p:cNvSpPr/>
          <p:nvPr/>
        </p:nvSpPr>
        <p:spPr>
          <a:xfrm>
            <a:off x="7863840" y="2478024"/>
            <a:ext cx="3573780" cy="914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27157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332720" y="27157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23.43%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3044952"/>
            <a:ext cx="3657600" cy="91440"/>
          </a:xfrm>
          <a:prstGeom prst="roundRect">
            <a:avLst>
              <a:gd name="adj" fmla="val 50000"/>
            </a:avLst>
          </a:prstGeom>
          <a:solidFill>
            <a:srgbClr val="E3E7F0"/>
          </a:solidFill>
          <a:ln/>
        </p:spPr>
      </p:sp>
      <p:sp>
        <p:nvSpPr>
          <p:cNvPr id="14" name="Shape 11"/>
          <p:cNvSpPr/>
          <p:nvPr/>
        </p:nvSpPr>
        <p:spPr>
          <a:xfrm>
            <a:off x="7863840" y="3044952"/>
            <a:ext cx="3570732" cy="914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32826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332720" y="32826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23.29%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863840" y="3611880"/>
            <a:ext cx="3657600" cy="91440"/>
          </a:xfrm>
          <a:prstGeom prst="roundRect">
            <a:avLst>
              <a:gd name="adj" fmla="val 50000"/>
            </a:avLst>
          </a:prstGeom>
          <a:solidFill>
            <a:srgbClr val="E3E7F0"/>
          </a:solidFill>
          <a:ln/>
        </p:spPr>
      </p:sp>
      <p:sp>
        <p:nvSpPr>
          <p:cNvPr id="18" name="Shape 15"/>
          <p:cNvSpPr/>
          <p:nvPr/>
        </p:nvSpPr>
        <p:spPr>
          <a:xfrm>
            <a:off x="7863840" y="3611880"/>
            <a:ext cx="3549396" cy="914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0" y="38496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332720" y="38496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23.13%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863840" y="4178808"/>
            <a:ext cx="3657600" cy="91440"/>
          </a:xfrm>
          <a:prstGeom prst="roundRect">
            <a:avLst>
              <a:gd name="adj" fmla="val 50000"/>
            </a:avLst>
          </a:prstGeom>
          <a:solidFill>
            <a:srgbClr val="E3E7F0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0" y="4178808"/>
            <a:ext cx="3525012" cy="914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3" name="Text 20"/>
          <p:cNvSpPr/>
          <p:nvPr/>
        </p:nvSpPr>
        <p:spPr>
          <a:xfrm>
            <a:off x="7863840" y="44165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332720" y="44165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23.15%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863840" y="4745736"/>
            <a:ext cx="3657600" cy="91440"/>
          </a:xfrm>
          <a:prstGeom prst="roundRect">
            <a:avLst>
              <a:gd name="adj" fmla="val 50000"/>
            </a:avLst>
          </a:prstGeom>
          <a:solidFill>
            <a:srgbClr val="E3E7F0"/>
          </a:solidFill>
          <a:ln/>
        </p:spPr>
      </p:sp>
      <p:sp>
        <p:nvSpPr>
          <p:cNvPr id="26" name="Shape 23"/>
          <p:cNvSpPr/>
          <p:nvPr/>
        </p:nvSpPr>
        <p:spPr>
          <a:xfrm>
            <a:off x="7863840" y="4745736"/>
            <a:ext cx="3528060" cy="9144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7" name="Text 24"/>
          <p:cNvSpPr/>
          <p:nvPr/>
        </p:nvSpPr>
        <p:spPr>
          <a:xfrm>
            <a:off x="7863840" y="52120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leads on both sales and margin. Central trails at ₹51.4 Cr — 32% below the four-region average — while its margin is in line with peers, suggesting an under-penetration problem, not a profitability problem.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 Analysis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State-Level Deep Dive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States by Sales (₹ Cr)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737360"/>
          <a:ext cx="72237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463040"/>
            <a:ext cx="4096512" cy="4480560"/>
          </a:xfrm>
          <a:prstGeom prst="roundRect">
            <a:avLst>
              <a:gd name="adj" fmla="val 1786"/>
            </a:avLst>
          </a:prstGeom>
          <a:solidFill>
            <a:srgbClr val="F7F8FC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0" y="1691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s/m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599" y="1822399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392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remarkably even spread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863840" y="233172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states are separated by just ₹1.05 Cr — no single state dominates, and demand is broadly distributed across the country rather than concentrated in a few metros.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863840" y="3429000"/>
            <a:ext cx="365760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6384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Lowest-margin states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863840" y="3886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Odisha (23.01%), Bihar (23.04%) and Maharashtra (23.06%) post the thinnest margins — but the full state range is only 23.0–23.7%, so margin is not a state-specific problem.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63840" y="4892040"/>
            <a:ext cx="365760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63840" y="5029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growth should come from expanding demand broadly and lifting discount discipline everywhere — not from fixing a specific underperforming state.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 Analysis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394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463040"/>
            <a:ext cx="5605272" cy="4480560"/>
          </a:xfrm>
          <a:prstGeom prst="roundRect">
            <a:avLst>
              <a:gd name="adj" fmla="val 1633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6382512" y="16733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Sales, Profit &amp; Margin by Category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82512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50392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96696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82512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503920" y="2514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₹207.1 Cr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966960" y="2514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23.22%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382512" y="29169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03920" y="29169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₹104.0 Cr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966960" y="29169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23.50%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382512" y="33192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Supplies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503920" y="33192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₹18.6 Cr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966960" y="33192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23.15%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82512" y="37216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503920" y="3721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₹16.6 Cr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966960" y="37216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23.16%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382512" y="41239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503920" y="412394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₹5.9 Cr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966960" y="412394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23.34%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382512" y="4572000"/>
            <a:ext cx="512064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82512" y="472744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and Furniture together make up 88% of sales, with margins tightly banded (23.15–23.50%) across every category — profitability is consistent; the opportunity is in growing the smaller categories.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 Analysis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Sub-Category Deep Dive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Sub-Categories by Sales (₹ Cr)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73736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Lowest-Margin Sub-Categories (%)</a:t>
            </a:r>
            <a:endParaRPr lang="en-US" sz="135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737360"/>
          <a:ext cx="5577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608076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EEF3FD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6080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sub-categories dominate revenue; margin differences across sub-categories are minor (22.9–23.8%) — the real margin lever is discounting, not product mix.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Category Analysis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&amp; MARGIN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Level vs. Profit Margin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112471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5321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DEEEA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5705856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5884164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553212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falls in lock-step with discount depth (correlation “–0.62”): orders discounted 21%+ generate ₹13.1 Cr in sales but return almost no profit (0.57% margin), while full-price orders earn 30.0%.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&amp; Margin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&amp; MARGIN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Erosion: Loss-Making Orders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81051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2,191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68833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sold at a loss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4.2% of all 52,000 orders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79392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6552" y="181051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–₹0.83 Cr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16552" y="268833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 on these orders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16552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₹82.1 Cr total company profit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38744" y="181051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38744" y="2688336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 on loss-making orders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38744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just 8% on profitable orders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11247120" cy="2423160"/>
          </a:xfrm>
          <a:prstGeom prst="roundRect">
            <a:avLst>
              <a:gd name="adj" fmla="val 3019"/>
            </a:avLst>
          </a:prstGeom>
          <a:solidFill>
            <a:srgbClr val="F7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9319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pattern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7240" y="4443984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31596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orders are heavily concentrated in the 21%+ discount band, where margin already averages just 0.57%.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" y="497433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8463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 discount gap (26% vs. 8%) shows these are not edge cases — they follow a predictable, discount-driven pattern that can be caught before checkout.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550468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37667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₹0.83 Cr, the direct loss is modest relative to ₹82.1 Cr total profit — but it signals a control gap: discounts are currently applied without a profitability floor.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&amp; Margin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SEGMENTS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by Segment (₹ Cr)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73736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463040"/>
            <a:ext cx="5148072" cy="4480560"/>
          </a:xfrm>
          <a:prstGeom prst="roundRect">
            <a:avLst>
              <a:gd name="adj" fmla="val 1633"/>
            </a:avLst>
          </a:prstGeom>
          <a:solidFill>
            <a:srgbClr val="F7F8F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Scorecard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0" y="210312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49640" y="210312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09760" y="210312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0" y="210312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0" y="2468880"/>
            <a:ext cx="470916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0" y="254203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49640" y="25420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₹194.9 Cr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509760" y="254203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₹106.4 Cr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515600" y="254203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₹51.0 Cr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0" y="29809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49640" y="298094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23.25%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509760" y="298094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23.30%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0" y="298094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23.49%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58000" y="34198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49640" y="341985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28,596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509760" y="341985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15,598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515600" y="341985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7,806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858000" y="38587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549640" y="385876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5,942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509760" y="38587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5,563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515600" y="385876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4,420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858000" y="429768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549640" y="42976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₹68,157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509760" y="42976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₹68,185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515600" y="429768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₹65,291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858000" y="4754880"/>
            <a:ext cx="470916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58000" y="4873752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drives the most volume; Home Office is smallest but has the best margin. All three segments perform similarly per-customer — growth should focus on acquiring more customers, not shifting segment mix.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Segments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SEGMENTS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Customers by Sales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941832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640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26480" y="1508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1508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9418320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6596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19659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Joshi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77640" y="19659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₹1.30 Cr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26480" y="1965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0" y="19659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₹0.30 Cr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35000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235000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Das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23500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₹1.25 Cr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26480" y="23500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0" y="23500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₹0.30 Cr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734056"/>
            <a:ext cx="9418320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3405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273405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Yadav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77640" y="27340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126480" y="273405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0" y="273405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311810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51560" y="311810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Vivaan Patel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977640" y="31181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126480" y="311810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0" y="31181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3502152"/>
            <a:ext cx="9418320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50215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51560" y="35021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Ishaan Reddy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977640" y="35021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₹1.20 Cr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126480" y="35021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772400" y="35021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₹0.28 Cr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388620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51560" y="388620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 Malhotra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3977640" y="3886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₹1.19 Cr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126480" y="38862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0" y="38862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₹0.29 Cr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57200" y="4270248"/>
            <a:ext cx="9418320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27024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51560" y="427024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Ishaan Singh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3977640" y="42702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₹1.14 Cr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126480" y="42702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772400" y="42702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57200" y="465429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51560" y="465429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Myra Gupta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3977640" y="46542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₹1.14 Cr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126480" y="465429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7772400" y="465429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₹0.29 Cr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57200" y="5038344"/>
            <a:ext cx="9418320" cy="38404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503834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051560" y="50383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Ishaan Mehta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3977640" y="50383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₹1.13 Cr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126480" y="503834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772400" y="503834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₹0.24 Cr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57200" y="542239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1051560" y="542239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Sneha Malhotra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3977640" y="54223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₹1.13 Cr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126480" y="542239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772400" y="54223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₹0.28 Cr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10104120" y="1508760"/>
            <a:ext cx="1627632" cy="4297680"/>
          </a:xfrm>
          <a:prstGeom prst="roundRect">
            <a:avLst>
              <a:gd name="adj" fmla="val 4494"/>
            </a:avLst>
          </a:prstGeom>
          <a:solidFill>
            <a:srgbClr val="1E2761"/>
          </a:solidFill>
          <a:ln/>
        </p:spPr>
      </p:sp>
      <p:sp>
        <p:nvSpPr>
          <p:cNvPr id="66" name="Shape 64"/>
          <p:cNvSpPr/>
          <p:nvPr/>
        </p:nvSpPr>
        <p:spPr>
          <a:xfrm>
            <a:off x="10323576" y="17830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7" name="Image 0" descr="icons/award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1913839"/>
            <a:ext cx="241402" cy="241402"/>
          </a:xfrm>
          <a:prstGeom prst="rect">
            <a:avLst/>
          </a:prstGeom>
        </p:spPr>
      </p:pic>
      <p:sp>
        <p:nvSpPr>
          <p:cNvPr id="68" name="Text 65"/>
          <p:cNvSpPr/>
          <p:nvPr/>
        </p:nvSpPr>
        <p:spPr>
          <a:xfrm>
            <a:off x="10241280" y="2423160"/>
            <a:ext cx="1280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contribute ₹11.98 Cr — about 3.4% of total sales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Segments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&amp; 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 Mode &amp; Delivery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Share by Ship Mode (%)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73736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463040"/>
            <a:ext cx="5148072" cy="4434840"/>
          </a:xfrm>
          <a:prstGeom prst="roundRect">
            <a:avLst>
              <a:gd name="adj" fmla="val 1649"/>
            </a:avLst>
          </a:prstGeom>
          <a:solidFill>
            <a:srgbClr val="F7F8F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Avg. Delivery Days &amp; Cost by Mode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85800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77824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014984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Class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7824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3.98 days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149840" y="2514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₹409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0" y="293522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Class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78240" y="29352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4.01 days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149840" y="29352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335584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3355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4.00 days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149840" y="33558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0" y="37764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0" y="37764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4.05 days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149840" y="37764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₹412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858000" y="4242816"/>
            <a:ext cx="4709160" cy="0"/>
          </a:xfrm>
          <a:prstGeom prst="line">
            <a:avLst/>
          </a:prstGeom>
          <a:noFill/>
          <a:ln w="12700">
            <a:solidFill>
              <a:srgbClr val="D9DE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0" y="442569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0" descr="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872" y="454456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452360" y="4379976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and cost are essentially flat across all four ship modes (~4.0 days, ~₹408) — “Same Day” does not deliver meaningfully faster than “Standard Class.” This points to an SLA or carrier-performance gap worth investigating.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&amp; Payments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&amp; PAYMENTS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Method Preferences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463040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463040"/>
            <a:ext cx="5330952" cy="4480560"/>
          </a:xfrm>
          <a:prstGeom prst="roundRect">
            <a:avLst>
              <a:gd name="adj" fmla="val 1633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1691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digitally-mature, consistent customer base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675120" y="24505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/>
          <p:nvPr/>
        </p:nvSpPr>
        <p:spPr>
          <a:xfrm>
            <a:off x="6903720" y="232257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(29.9%) and Credit Card (29.8%) are almost tied as the top payment methods — together nearly 60% of orders.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3649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/>
          <p:nvPr/>
        </p:nvSpPr>
        <p:spPr>
          <a:xfrm>
            <a:off x="6903720" y="323697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Delivery is now the smallest method at just 8.1%, reflecting strong digital payment adoption.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675120" y="427939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415137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mix is stable across every region and every customer segment (within ~1 point) — no region or segment needs a different payment strategy.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&amp; Payments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at a Glance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18488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icons/percent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60" y="1756380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563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Discounting is the #1 margin lever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25880" y="207568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falls from 30.0% (no discount) to 0.6% (21%+ discount) — a near-perfect inverse relationship.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45352" y="141732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618488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icons/trending_down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412" y="1756380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14032" y="156362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has plateaued since 2023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114032" y="207568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fell 4.0% in 2024 and stayed flat into 2025, even as margin held steady.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1546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" y="3355848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7" name="Image 2" descr="icons/map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60" y="3493740"/>
            <a:ext cx="254569" cy="2545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30098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region is under-penetrated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25880" y="381304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₹51.4 Cr in sales, 32% below the four-region average, with margin in line with peers.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45352" y="315468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6520" y="3355848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3" descr="icons/layers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412" y="3493740"/>
            <a:ext cx="254569" cy="25456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14032" y="330098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is concentrated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114032" y="381304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+ Furniture drive 88% of sales; Clothing, Groceries &amp; Office Supplies are underdeveloped.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57200" y="489204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58368" y="5093208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7" name="Image 4" descr="icons/truck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60" y="5231100"/>
            <a:ext cx="254569" cy="25456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503834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shipping isn't actually faster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325880" y="55504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 and Standard Class deliver in ~4.0 days on average — no meaningful SLA differentiation.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45352" y="489204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41B4D"/>
          </a:solidFill>
          <a:ln w="12700">
            <a:solidFill>
              <a:srgbClr val="3A467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46520" y="5093208"/>
            <a:ext cx="530352" cy="53035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2" name="Image 5" descr="icons/users_1E276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4412" y="5231100"/>
            <a:ext cx="254569" cy="254569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114032" y="5038344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is broad-based, not concentrated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7114032" y="55504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= only 3.4% of sales; segments and states are all evenly matched.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Recommend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309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5453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discretionary discounts at 15%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98448" y="198424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an approval workflow for any discount above 15%; the 16%+ bands already return under 12% margin.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45352" y="141732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7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ale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73095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5453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 a profitability floor on checkout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086600" y="198424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or block orders projected to lose money before they're confirmed — catching the pattern behind the 2,191 loss-making orders.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7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m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33768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98448" y="31912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Central region demand generation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98448" y="363016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marketing and channel expansion to close the 32% sales gap versus other regions.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45352" y="306324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7F8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8232" y="3246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8991" y="337687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1912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beyond Electronics &amp; Furniture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86600" y="363016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and cross-sell Clothing, Groceries and Office Supplies to reduce category concentration risk.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70916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7F8FC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tru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839" y="50227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98448" y="48371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express shipping SLAs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298448" y="5276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Same Day and First Class aren't outperforming Standard Class on delivery time.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45352" y="4709160"/>
            <a:ext cx="5486400" cy="1481328"/>
          </a:xfrm>
          <a:prstGeom prst="roundRect">
            <a:avLst>
              <a:gd name="adj" fmla="val 4938"/>
            </a:avLst>
          </a:prstGeom>
          <a:solidFill>
            <a:srgbClr val="F7F8FC"/>
          </a:solidFill>
          <a:ln/>
        </p:spPr>
      </p:sp>
      <p:sp>
        <p:nvSpPr>
          <p:cNvPr id="30" name="Shape 23"/>
          <p:cNvSpPr/>
          <p:nvPr/>
        </p:nvSpPr>
        <p:spPr>
          <a:xfrm>
            <a:off x="6428232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calenda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991" y="50227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8371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campaigns around peak months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086600" y="52760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inventory and marketing spend ahead of the March and August demand peaks.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&amp; Action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0876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361188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819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19476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62432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49631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15% discount approval threshold for sales &amp; customer service teams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794760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3666744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profitability check at order confirmation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965192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837176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discount-vs-margin analysis to regional sales leads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70248" y="1508760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7F8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270248" y="150876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C681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70248" y="1920240"/>
            <a:ext cx="3611880" cy="365760"/>
          </a:xfrm>
          <a:prstGeom prst="rect">
            <a:avLst/>
          </a:prstGeom>
          <a:solidFill>
            <a:srgbClr val="C6812A"/>
          </a:solidFill>
          <a:ln/>
        </p:spPr>
      </p:sp>
      <p:sp>
        <p:nvSpPr>
          <p:cNvPr id="18" name="Text 16"/>
          <p:cNvSpPr/>
          <p:nvPr/>
        </p:nvSpPr>
        <p:spPr>
          <a:xfrm>
            <a:off x="4498848" y="15819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98848" y="19476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 Days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98848" y="2624328"/>
            <a:ext cx="82296" cy="82296"/>
          </a:xfrm>
          <a:prstGeom prst="ellipse">
            <a:avLst/>
          </a:prstGeom>
          <a:solidFill>
            <a:srgbClr val="C6812A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49631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Central-region demand campaign with local promotions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98848" y="3794760"/>
            <a:ext cx="82296" cy="82296"/>
          </a:xfrm>
          <a:prstGeom prst="ellipse">
            <a:avLst/>
          </a:prstGeom>
          <a:solidFill>
            <a:srgbClr val="C6812A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666744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Same Day / First Class carrier SLAs and renegotiate or re-price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98848" y="4965192"/>
            <a:ext cx="82296" cy="82296"/>
          </a:xfrm>
          <a:prstGeom prst="ellipse">
            <a:avLst/>
          </a:prstGeom>
          <a:solidFill>
            <a:srgbClr val="C6812A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837176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cross-sell bundles pairing Electronics/Furniture with Clothing &amp; Groceries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83296" y="1508760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7F8FC"/>
          </a:solidFill>
          <a:ln/>
        </p:spPr>
      </p:sp>
      <p:sp>
        <p:nvSpPr>
          <p:cNvPr id="27" name="Shape 25"/>
          <p:cNvSpPr/>
          <p:nvPr/>
        </p:nvSpPr>
        <p:spPr>
          <a:xfrm>
            <a:off x="8083296" y="150876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1E8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8083296" y="1920240"/>
            <a:ext cx="3611880" cy="365760"/>
          </a:xfrm>
          <a:prstGeom prst="rect">
            <a:avLst/>
          </a:prstGeom>
          <a:solidFill>
            <a:srgbClr val="1E8E5A"/>
          </a:solidFill>
          <a:ln/>
        </p:spPr>
      </p:sp>
      <p:sp>
        <p:nvSpPr>
          <p:cNvPr id="29" name="Text 27"/>
          <p:cNvSpPr/>
          <p:nvPr/>
        </p:nvSpPr>
        <p:spPr>
          <a:xfrm>
            <a:off x="8311896" y="15819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311896" y="194767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311896" y="2624328"/>
            <a:ext cx="82296" cy="82296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2" name="Text 30"/>
          <p:cNvSpPr/>
          <p:nvPr/>
        </p:nvSpPr>
        <p:spPr>
          <a:xfrm>
            <a:off x="8522208" y="2496312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 monthly sales &amp; profitability dashboard for leadership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11896" y="3794760"/>
            <a:ext cx="82296" cy="82296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4" name="Text 32"/>
          <p:cNvSpPr/>
          <p:nvPr/>
        </p:nvSpPr>
        <p:spPr>
          <a:xfrm>
            <a:off x="8522208" y="3666744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FY2026 growth targets by region to reverse the post-2023 plateau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311896" y="4965192"/>
            <a:ext cx="82296" cy="82296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36" name="Text 34"/>
          <p:cNvSpPr/>
          <p:nvPr/>
        </p:nvSpPr>
        <p:spPr>
          <a:xfrm>
            <a:off x="8522208" y="4837176"/>
            <a:ext cx="2926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 impact quarterly and adjust thresholds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8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Directionally, tightening discount governance alone could recover several crore in annual profit — without any change in sales volume.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2860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≈₹5 Cr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annual profit recovery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orders in the 16%+ discount bands (₹44.4 Cr of sales) are lifted from 8.7% blended margin toward the company average of ~20%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0248" y="205740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22860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₹0.83 Cr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98848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loss to eliminate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34290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putting a profitability floor on the 2,191 currently loss-making orders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205740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311896" y="22860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11896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region sales headroom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11896" y="34290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 the gap with the four-region average and unlock ~₹24 Cr in incremental annual sales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EEF3FD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9377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0" descr="icons/flag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5104181"/>
            <a:ext cx="307238" cy="30723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00200" y="4754880"/>
            <a:ext cx="9875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directional estimates from the FY2022–25 dataset, meant to size the opportunity and prioritize action — not committed targets. Each should be validated with Finance before being built into the FY2026 plan.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743200"/>
            <a:ext cx="7315200" cy="7315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438912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5349240" y="219456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icons/check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321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24612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75504" y="4709160"/>
            <a:ext cx="182880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89204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Team  •  National Retail Co.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Retail Co.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2026-07-23T08:38:56Z</dcterms:created>
  <dcterms:modified xsi:type="dcterms:W3CDTF">2026-07-23T08:38:56Z</dcterms:modified>
</cp:coreProperties>
</file>